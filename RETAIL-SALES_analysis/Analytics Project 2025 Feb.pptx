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7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10BC9-661E-42B7-AE9B-B540B83C4B6F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9A40C-3B4A-4A8D-8041-D6E6E7A34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5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1871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04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8477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9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6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8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96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42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5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7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023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04825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830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31511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2507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9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28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799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8" y="5054602"/>
            <a:ext cx="5419814" cy="279400"/>
          </a:xfr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0" cy="279400"/>
          </a:xfrm>
        </p:spPr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97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1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420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1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1" y="3734859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3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00114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1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4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846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4" indent="0">
              <a:buNone/>
              <a:defRPr sz="1600" b="1"/>
            </a:lvl4pPr>
            <a:lvl5pPr marL="1828645" indent="0">
              <a:buNone/>
              <a:defRPr sz="1600" b="1"/>
            </a:lvl5pPr>
            <a:lvl6pPr marL="2285805" indent="0">
              <a:buNone/>
              <a:defRPr sz="1600" b="1"/>
            </a:lvl6pPr>
            <a:lvl7pPr marL="2742966" indent="0">
              <a:buNone/>
              <a:defRPr sz="1600" b="1"/>
            </a:lvl7pPr>
            <a:lvl8pPr marL="3200128" indent="0">
              <a:buNone/>
              <a:defRPr sz="1600" b="1"/>
            </a:lvl8pPr>
            <a:lvl9pPr marL="365728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4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4" indent="0">
              <a:buNone/>
              <a:defRPr sz="1600" b="1"/>
            </a:lvl4pPr>
            <a:lvl5pPr marL="1828645" indent="0">
              <a:buNone/>
              <a:defRPr sz="1600" b="1"/>
            </a:lvl5pPr>
            <a:lvl6pPr marL="2285805" indent="0">
              <a:buNone/>
              <a:defRPr sz="1600" b="1"/>
            </a:lvl6pPr>
            <a:lvl7pPr marL="2742966" indent="0">
              <a:buNone/>
              <a:defRPr sz="1600" b="1"/>
            </a:lvl7pPr>
            <a:lvl8pPr marL="3200128" indent="0">
              <a:buNone/>
              <a:defRPr sz="1600" b="1"/>
            </a:lvl8pPr>
            <a:lvl9pPr marL="365728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4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1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00411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1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473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313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6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4" indent="0">
              <a:buNone/>
              <a:defRPr sz="900"/>
            </a:lvl4pPr>
            <a:lvl5pPr marL="1828645" indent="0">
              <a:buNone/>
              <a:defRPr sz="900"/>
            </a:lvl5pPr>
            <a:lvl6pPr marL="2285805" indent="0">
              <a:buNone/>
              <a:defRPr sz="900"/>
            </a:lvl6pPr>
            <a:lvl7pPr marL="2742966" indent="0">
              <a:buNone/>
              <a:defRPr sz="900"/>
            </a:lvl7pPr>
            <a:lvl8pPr marL="3200128" indent="0">
              <a:buNone/>
              <a:defRPr sz="900"/>
            </a:lvl8pPr>
            <a:lvl9pPr marL="365728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2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804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1" indent="0">
              <a:buNone/>
              <a:defRPr sz="1600"/>
            </a:lvl2pPr>
            <a:lvl3pPr marL="914322" indent="0">
              <a:buNone/>
              <a:defRPr sz="1600"/>
            </a:lvl3pPr>
            <a:lvl4pPr marL="1371484" indent="0">
              <a:buNone/>
              <a:defRPr sz="1600"/>
            </a:lvl4pPr>
            <a:lvl5pPr marL="1828645" indent="0">
              <a:buNone/>
              <a:defRPr sz="1600"/>
            </a:lvl5pPr>
            <a:lvl6pPr marL="2285805" indent="0">
              <a:buNone/>
              <a:defRPr sz="1600"/>
            </a:lvl6pPr>
            <a:lvl7pPr marL="2742966" indent="0">
              <a:buNone/>
              <a:defRPr sz="1600"/>
            </a:lvl7pPr>
            <a:lvl8pPr marL="3200128" indent="0">
              <a:buNone/>
              <a:defRPr sz="1600"/>
            </a:lvl8pPr>
            <a:lvl9pPr marL="3657289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3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4" indent="0">
              <a:buNone/>
              <a:defRPr sz="900"/>
            </a:lvl4pPr>
            <a:lvl5pPr marL="1828645" indent="0">
              <a:buNone/>
              <a:defRPr sz="900"/>
            </a:lvl5pPr>
            <a:lvl6pPr marL="2285805" indent="0">
              <a:buNone/>
              <a:defRPr sz="900"/>
            </a:lvl6pPr>
            <a:lvl7pPr marL="2742966" indent="0">
              <a:buNone/>
              <a:defRPr sz="900"/>
            </a:lvl7pPr>
            <a:lvl8pPr marL="3200128" indent="0">
              <a:buNone/>
              <a:defRPr sz="900"/>
            </a:lvl8pPr>
            <a:lvl9pPr marL="365728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030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4815416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3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1" indent="0">
              <a:buNone/>
              <a:defRPr sz="1600"/>
            </a:lvl2pPr>
            <a:lvl3pPr marL="914322" indent="0">
              <a:buNone/>
              <a:defRPr sz="1600"/>
            </a:lvl3pPr>
            <a:lvl4pPr marL="1371484" indent="0">
              <a:buNone/>
              <a:defRPr sz="1600"/>
            </a:lvl4pPr>
            <a:lvl5pPr marL="1828645" indent="0">
              <a:buNone/>
              <a:defRPr sz="1600"/>
            </a:lvl5pPr>
            <a:lvl6pPr marL="2285805" indent="0">
              <a:buNone/>
              <a:defRPr sz="1600"/>
            </a:lvl6pPr>
            <a:lvl7pPr marL="2742966" indent="0">
              <a:buNone/>
              <a:defRPr sz="1600"/>
            </a:lvl7pPr>
            <a:lvl8pPr marL="3200128" indent="0">
              <a:buNone/>
              <a:defRPr sz="1600"/>
            </a:lvl8pPr>
            <a:lvl9pPr marL="3657289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4" indent="0">
              <a:buNone/>
              <a:defRPr sz="900"/>
            </a:lvl4pPr>
            <a:lvl5pPr marL="1828645" indent="0">
              <a:buNone/>
              <a:defRPr sz="900"/>
            </a:lvl5pPr>
            <a:lvl6pPr marL="2285805" indent="0">
              <a:buNone/>
              <a:defRPr sz="900"/>
            </a:lvl6pPr>
            <a:lvl7pPr marL="2742966" indent="0">
              <a:buNone/>
              <a:defRPr sz="900"/>
            </a:lvl7pPr>
            <a:lvl8pPr marL="3200128" indent="0">
              <a:buNone/>
              <a:defRPr sz="900"/>
            </a:lvl8pPr>
            <a:lvl9pPr marL="365728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93047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48667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161" indent="0">
              <a:buFontTx/>
              <a:buNone/>
              <a:defRPr/>
            </a:lvl2pPr>
            <a:lvl3pPr marL="914322" indent="0">
              <a:buFontTx/>
              <a:buNone/>
              <a:defRPr/>
            </a:lvl3pPr>
            <a:lvl4pPr marL="1371484" indent="0">
              <a:buFontTx/>
              <a:buNone/>
              <a:defRPr/>
            </a:lvl4pPr>
            <a:lvl5pPr marL="1828645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8" cy="584776"/>
          </a:xfrm>
          <a:prstGeom prst="rect">
            <a:avLst/>
          </a:prstGeom>
        </p:spPr>
        <p:txBody>
          <a:bodyPr vert="horz" lIns="91436" tIns="45719" rIns="91436" bIns="45719" rtlCol="0" anchor="ctr">
            <a:noAutofit/>
          </a:bodyPr>
          <a:lstStyle/>
          <a:p>
            <a:pPr defTabSz="586405">
              <a:buClr>
                <a:srgbClr val="000000"/>
              </a:buClr>
              <a:buFont typeface="Arial"/>
              <a:buNone/>
            </a:pPr>
            <a:r>
              <a:rPr lang="en-US" sz="7199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1"/>
            <a:ext cx="609758" cy="584776"/>
          </a:xfrm>
          <a:prstGeom prst="rect">
            <a:avLst/>
          </a:prstGeom>
        </p:spPr>
        <p:txBody>
          <a:bodyPr vert="horz" lIns="91436" tIns="45719" rIns="91436" bIns="45719" rtlCol="0" anchor="ctr">
            <a:noAutofit/>
          </a:bodyPr>
          <a:lstStyle/>
          <a:p>
            <a:pPr algn="r" defTabSz="586405">
              <a:buClr>
                <a:srgbClr val="000000"/>
              </a:buClr>
              <a:buFont typeface="Arial"/>
              <a:buNone/>
            </a:pPr>
            <a:r>
              <a:rPr lang="en-US" sz="7199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1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19603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4777381"/>
            <a:ext cx="9064974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1865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7" y="3639312"/>
            <a:ext cx="9064974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1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8" cy="584776"/>
          </a:xfrm>
          <a:prstGeom prst="rect">
            <a:avLst/>
          </a:prstGeom>
        </p:spPr>
        <p:txBody>
          <a:bodyPr vert="horz" lIns="91436" tIns="45719" rIns="91436" bIns="45719" rtlCol="0" anchor="ctr">
            <a:noAutofit/>
          </a:bodyPr>
          <a:lstStyle/>
          <a:p>
            <a:pPr defTabSz="586405">
              <a:buClr>
                <a:srgbClr val="000000"/>
              </a:buClr>
              <a:buFont typeface="Arial"/>
              <a:buNone/>
            </a:pPr>
            <a:r>
              <a:rPr lang="en-US" sz="8000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8" cy="584776"/>
          </a:xfrm>
          <a:prstGeom prst="rect">
            <a:avLst/>
          </a:prstGeom>
        </p:spPr>
        <p:txBody>
          <a:bodyPr vert="horz" lIns="91436" tIns="45719" rIns="91436" bIns="45719" rtlCol="0" anchor="ctr">
            <a:noAutofit/>
          </a:bodyPr>
          <a:lstStyle/>
          <a:p>
            <a:pPr algn="r" defTabSz="586405">
              <a:buClr>
                <a:srgbClr val="000000"/>
              </a:buClr>
              <a:buFont typeface="Arial"/>
              <a:buNone/>
            </a:pPr>
            <a:r>
              <a:rPr lang="en-US" sz="8000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1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960915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199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7" y="3566160"/>
            <a:ext cx="9064974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1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1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7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393117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25673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3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161543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16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4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4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90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586405">
              <a:buClr>
                <a:srgbClr val="000000"/>
              </a:buClr>
            </a:pPr>
            <a:endParaRPr lang="en-IN" kern="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3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586405">
              <a:buClr>
                <a:srgbClr val="000000"/>
              </a:buClr>
            </a:pPr>
            <a:endParaRPr lang="en-IN" kern="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586405">
              <a:buClr>
                <a:srgbClr val="000000"/>
              </a:buClr>
            </a:pPr>
            <a:fld id="{00000000-1234-1234-1234-123412341234}" type="slidenum">
              <a:rPr lang="en-US" kern="0" smtClean="0">
                <a:solidFill>
                  <a:prstClr val="black"/>
                </a:solidFill>
                <a:cs typeface="Arial"/>
                <a:sym typeface="Arial"/>
              </a:rPr>
              <a:pPr defTabSz="586405">
                <a:buClr>
                  <a:srgbClr val="000000"/>
                </a:buClr>
              </a:pPr>
              <a:t>‹#›</a:t>
            </a:fld>
            <a:endParaRPr lang="en-US" kern="0">
              <a:solidFill>
                <a:prstClr val="black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92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</p:sldLayoutIdLst>
  <p:hf sldNum="0" hdr="0" ftr="0" dt="0"/>
  <p:txStyles>
    <p:titleStyle>
      <a:lvl1pPr algn="ctr" defTabSz="457161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25" indent="-285725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887" indent="-285725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048" indent="-285725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919" indent="-171436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080" indent="-171436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386" indent="-228580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548" indent="-228580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8709" indent="-228580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869" indent="-228580" algn="l" defTabSz="457161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1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2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4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5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5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6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8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9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3B883C-145D-456F-8CC1-3E06EF22F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20" y="769403"/>
            <a:ext cx="9763814" cy="2262781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ANALYTIC PROJECT </a:t>
            </a:r>
            <a:r>
              <a:rPr lang="en-GB" dirty="0" smtClean="0"/>
              <a:t>Feb 2025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A3498AE-5CAA-48E8-9A7D-10DB27C42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2358" y="3476351"/>
            <a:ext cx="4710813" cy="785190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GB" sz="2800" b="1" dirty="0"/>
              <a:t>DOMAIN- </a:t>
            </a:r>
            <a:r>
              <a:rPr lang="en-GB" sz="2800" b="1" dirty="0" smtClean="0"/>
              <a:t>Retail Sales Analysis</a:t>
            </a:r>
            <a:br>
              <a:rPr lang="en-GB" sz="2800" b="1" dirty="0" smtClean="0"/>
            </a:br>
            <a:r>
              <a:rPr lang="en-GB" sz="2800" b="1" dirty="0" smtClean="0"/>
              <a:t>26-02-2025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06169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B82691-C88C-47F2-B192-5BA5F54C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733" y="181154"/>
            <a:ext cx="10046748" cy="707366"/>
          </a:xfrm>
        </p:spPr>
        <p:txBody>
          <a:bodyPr/>
          <a:lstStyle/>
          <a:p>
            <a:pPr algn="ctr"/>
            <a:r>
              <a:rPr lang="en-GB" dirty="0"/>
              <a:t>SQL QUERY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6E81E-54FC-4C4B-8BDA-5450635C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381" y="1337094"/>
            <a:ext cx="8846967" cy="4712850"/>
          </a:xfrm>
        </p:spPr>
        <p:txBody>
          <a:bodyPr>
            <a:normAutofit/>
          </a:bodyPr>
          <a:lstStyle/>
          <a:p>
            <a:r>
              <a:rPr lang="en-US" dirty="0"/>
              <a:t> Identifies products with prices higher than the average price within their category.</a:t>
            </a:r>
          </a:p>
          <a:p>
            <a:r>
              <a:rPr lang="en-US" dirty="0"/>
              <a:t>Finding Categories with Highest Average Rating Across Products.</a:t>
            </a:r>
          </a:p>
          <a:p>
            <a:r>
              <a:rPr lang="en-US" dirty="0"/>
              <a:t>Find the most reviewed product in each warehouse</a:t>
            </a:r>
          </a:p>
          <a:p>
            <a:r>
              <a:rPr lang="en-US" dirty="0"/>
              <a:t>find products that have higher-than-average prices within their category, along with their discount and supplier.</a:t>
            </a:r>
          </a:p>
          <a:p>
            <a:r>
              <a:rPr lang="en-US" dirty="0"/>
              <a:t>Query to find the top 2 products with the highest average rating in each category</a:t>
            </a:r>
          </a:p>
          <a:p>
            <a:r>
              <a:rPr lang="en-US" dirty="0"/>
              <a:t>Analysis Across All Return Policy Categories(Count, </a:t>
            </a:r>
            <a:r>
              <a:rPr lang="en-US" dirty="0" err="1"/>
              <a:t>Avgstock</a:t>
            </a:r>
            <a:r>
              <a:rPr lang="en-US" dirty="0"/>
              <a:t>, total stock, </a:t>
            </a:r>
            <a:r>
              <a:rPr lang="en-US" dirty="0" err="1"/>
              <a:t>weighted_avg_rating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29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9E3A7D-4F79-425E-B661-12313841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219" y="624110"/>
            <a:ext cx="9408393" cy="1280890"/>
          </a:xfrm>
        </p:spPr>
        <p:txBody>
          <a:bodyPr/>
          <a:lstStyle/>
          <a:p>
            <a:r>
              <a:rPr lang="en-GB" dirty="0"/>
              <a:t>Visual </a:t>
            </a:r>
            <a:r>
              <a:rPr lang="en-GB" dirty="0" smtClean="0"/>
              <a:t>Analysis  (</a:t>
            </a:r>
            <a:r>
              <a:rPr lang="en-GB" dirty="0" err="1" smtClean="0"/>
              <a:t>PowerBI</a:t>
            </a:r>
            <a:r>
              <a:rPr lang="en-GB" dirty="0" smtClean="0"/>
              <a:t>/Tableau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CDDEF3-99DE-49EF-886C-7E89984A2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491" y="1905000"/>
            <a:ext cx="10038121" cy="4006222"/>
          </a:xfrm>
        </p:spPr>
        <p:txBody>
          <a:bodyPr>
            <a:normAutofit/>
          </a:bodyPr>
          <a:lstStyle/>
          <a:p>
            <a:r>
              <a:rPr lang="en-US" dirty="0"/>
              <a:t>What is the average discount offered for products with a 30-day return policy versus those with a 15-day return policy?</a:t>
            </a:r>
          </a:p>
          <a:p>
            <a:r>
              <a:rPr lang="en-US" dirty="0"/>
              <a:t>How can we segment customers based on their purchasing behavior (e.g., frequency of purchases, total spending)?</a:t>
            </a:r>
          </a:p>
          <a:p>
            <a:r>
              <a:rPr lang="en-US" dirty="0"/>
              <a:t>Can we create a dynamic pricing strategy based on product ratings and reviews? How would this affect overall sales revenue?</a:t>
            </a:r>
          </a:p>
          <a:p>
            <a:r>
              <a:rPr lang="en-US" dirty="0"/>
              <a:t>What is the optimal discount percentage that maximizes both sales volume and profitability?</a:t>
            </a:r>
          </a:p>
          <a:p>
            <a:r>
              <a:rPr lang="en-US" dirty="0"/>
              <a:t>Is there a correlation between product ratings and stock turnover rates, and how can this insight guide inventory management decisions?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49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474B14-C50E-44F4-85F1-02A6A92F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563" y="0"/>
            <a:ext cx="10262408" cy="678479"/>
          </a:xfrm>
        </p:spPr>
        <p:txBody>
          <a:bodyPr/>
          <a:lstStyle/>
          <a:p>
            <a:pPr algn="ctr"/>
            <a:r>
              <a:rPr lang="en-GB" dirty="0" smtClean="0"/>
              <a:t>Conclusion on Visual </a:t>
            </a:r>
            <a:r>
              <a:rPr lang="en-GB" dirty="0"/>
              <a:t>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65F651-580E-41DB-BBE5-CF0DD3919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6569" y="828135"/>
            <a:ext cx="9539529" cy="203583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Analytical thinking and research to understand the domain and give suggestions /prescription to the business.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34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idx="1"/>
          </p:nvPr>
        </p:nvSpPr>
        <p:spPr>
          <a:xfrm>
            <a:off x="972815" y="1279545"/>
            <a:ext cx="10059620" cy="5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fontAlgn="base"/>
            <a:r>
              <a:rPr lang="en-US" dirty="0"/>
              <a:t>Selection of candidates will be based on their </a:t>
            </a:r>
            <a:r>
              <a:rPr lang="en-US" b="1" dirty="0"/>
              <a:t>approach to building a model,  presentation skills(Storytelling skills), and subject knowledge points(a mock round)(Questions related to SQL &amp; Power BI/Tableau for Analytics(BA/DA/Analytics)</a:t>
            </a:r>
            <a:endParaRPr lang="en-US" dirty="0"/>
          </a:p>
          <a:p>
            <a:pPr fontAlgn="base"/>
            <a:r>
              <a:rPr lang="en-US" b="1" dirty="0"/>
              <a:t>Note: you need to score 80% to clear this round.</a:t>
            </a:r>
          </a:p>
          <a:p>
            <a:pPr fontAlgn="base"/>
            <a:r>
              <a:rPr lang="en-US" dirty="0"/>
              <a:t>Once the presentation is done every candidate will get their feedback during the session and outcome and score via mail with the status of whether they are selected or not.</a:t>
            </a:r>
          </a:p>
          <a:p>
            <a:pPr fontAlgn="base"/>
            <a:r>
              <a:rPr lang="en-US" dirty="0"/>
              <a:t>Selected candidates’ data will be shared with the placement team for 1 on 1 resume session.</a:t>
            </a:r>
          </a:p>
          <a:p>
            <a:pPr fontAlgn="base"/>
            <a:r>
              <a:rPr lang="en-US" dirty="0"/>
              <a:t>Candidates who are not selected in this process will be carried forward to the next project.</a:t>
            </a:r>
          </a:p>
          <a:p>
            <a:pPr fontAlgn="base"/>
            <a:r>
              <a:rPr lang="en-US" dirty="0"/>
              <a:t>Kindly do not book multiple slots, if found it shall considered as cancelled. If any change in the slot date and time kindly inform or cancel the previous slot.</a:t>
            </a:r>
          </a:p>
          <a:p>
            <a:pPr fontAlgn="base"/>
            <a:r>
              <a:rPr lang="en-US" dirty="0"/>
              <a:t>If you absent or unable to present at the day of presentation, in that case getting another will be subject of availability.</a:t>
            </a:r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  <a:p>
            <a:pPr marL="3429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 dirty="0"/>
          </a:p>
        </p:txBody>
      </p:sp>
      <p:sp>
        <p:nvSpPr>
          <p:cNvPr id="152" name="Google Shape;152;p24"/>
          <p:cNvSpPr/>
          <p:nvPr/>
        </p:nvSpPr>
        <p:spPr>
          <a:xfrm>
            <a:off x="1613860" y="162457"/>
            <a:ext cx="8896800" cy="8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Selection &amp; feedback</a:t>
            </a:r>
            <a:endParaRPr sz="5400" b="0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4402408" y="1342472"/>
            <a:ext cx="3589263" cy="6301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6" tIns="34274" rIns="68566" bIns="34274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5400"/>
            </a:pPr>
            <a:r>
              <a:rPr lang="en-US" sz="4050" dirty="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Guidelines</a:t>
            </a:r>
            <a:endParaRPr sz="4050" dirty="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Google Shape;128;p28"/>
          <p:cNvSpPr txBox="1">
            <a:spLocks noGrp="1"/>
          </p:cNvSpPr>
          <p:nvPr>
            <p:ph type="body" idx="1"/>
          </p:nvPr>
        </p:nvSpPr>
        <p:spPr>
          <a:xfrm>
            <a:off x="1492370" y="1972612"/>
            <a:ext cx="8536819" cy="34792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6" tIns="34274" rIns="68566" bIns="34274" rtlCol="0" anchor="t" anchorCtr="0">
            <a:normAutofit fontScale="85000" lnSpcReduction="20000"/>
          </a:bodyPr>
          <a:lstStyle/>
          <a:p>
            <a:pPr marL="257153" indent="-188578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lang="en-US" b="1" dirty="0" smtClean="0">
              <a:solidFill>
                <a:schemeClr val="accent1"/>
              </a:solidFill>
            </a:endParaRPr>
          </a:p>
          <a:p>
            <a:pPr marL="257153" indent="-188578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257153" indent="-188578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2950" b="1" dirty="0">
                <a:solidFill>
                  <a:schemeClr val="accent1"/>
                </a:solidFill>
              </a:rPr>
              <a:t>	Last date of submission- </a:t>
            </a:r>
            <a:r>
              <a:rPr lang="en-US" sz="2950" b="1" dirty="0" smtClean="0">
                <a:solidFill>
                  <a:schemeClr val="accent1"/>
                </a:solidFill>
              </a:rPr>
              <a:t>Friday 7</a:t>
            </a:r>
            <a:r>
              <a:rPr lang="en-US" sz="2950" b="1" baseline="30000" dirty="0" smtClean="0">
                <a:solidFill>
                  <a:schemeClr val="accent1"/>
                </a:solidFill>
              </a:rPr>
              <a:t>th</a:t>
            </a:r>
            <a:r>
              <a:rPr lang="en-US" sz="2950" b="1" dirty="0" smtClean="0">
                <a:solidFill>
                  <a:schemeClr val="accent1"/>
                </a:solidFill>
              </a:rPr>
              <a:t> March </a:t>
            </a:r>
            <a:r>
              <a:rPr lang="en-US" sz="2950" b="1" dirty="0">
                <a:solidFill>
                  <a:schemeClr val="accent1"/>
                </a:solidFill>
              </a:rPr>
              <a:t>2025 EOD</a:t>
            </a:r>
            <a:endParaRPr lang="en-US" sz="2950" dirty="0">
              <a:solidFill>
                <a:schemeClr val="accent1"/>
              </a:solidFill>
            </a:endParaRPr>
          </a:p>
          <a:p>
            <a:r>
              <a:rPr lang="en-US" b="1" dirty="0"/>
              <a:t>Presentation Submission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Kindly submit your ‘</a:t>
            </a:r>
            <a:r>
              <a:rPr lang="en-US" dirty="0" err="1" smtClean="0"/>
              <a:t>XYZ.sq</a:t>
            </a:r>
            <a:r>
              <a:rPr lang="en-US" dirty="0" err="1"/>
              <a:t>l</a:t>
            </a:r>
            <a:r>
              <a:rPr lang="en-US" dirty="0" smtClean="0"/>
              <a:t> </a:t>
            </a:r>
            <a:r>
              <a:rPr lang="en-US" dirty="0"/>
              <a:t>file and ‘</a:t>
            </a:r>
            <a:r>
              <a:rPr lang="en-US" dirty="0" err="1" smtClean="0"/>
              <a:t>XYZ.pbix</a:t>
            </a:r>
            <a:r>
              <a:rPr lang="en-US" dirty="0" smtClean="0"/>
              <a:t>/tableau’ </a:t>
            </a:r>
            <a:r>
              <a:rPr lang="en-US" dirty="0"/>
              <a:t>to  </a:t>
            </a:r>
            <a:r>
              <a:rPr lang="en-US" b="1" dirty="0"/>
              <a:t>interviewprep@learnbay.co</a:t>
            </a:r>
            <a:r>
              <a:rPr lang="en-US" dirty="0"/>
              <a:t>.</a:t>
            </a:r>
          </a:p>
          <a:p>
            <a:r>
              <a:rPr lang="en-US" b="1" dirty="0"/>
              <a:t>Session Booking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Once your presentation is submitted, you can book your session for the </a:t>
            </a:r>
            <a:r>
              <a:rPr lang="en-US" b="1" dirty="0"/>
              <a:t>next day</a:t>
            </a:r>
            <a:r>
              <a:rPr lang="en-US" dirty="0"/>
              <a:t>.</a:t>
            </a:r>
          </a:p>
          <a:p>
            <a:r>
              <a:rPr lang="en-US" b="1" dirty="0"/>
              <a:t>Session Focus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 session will focus on </a:t>
            </a:r>
            <a:r>
              <a:rPr lang="en-US" b="1" dirty="0"/>
              <a:t>interview preparation</a:t>
            </a:r>
            <a:r>
              <a:rPr lang="en-US" dirty="0"/>
              <a:t> and related topics.</a:t>
            </a:r>
          </a:p>
          <a:p>
            <a:pPr marL="257153" indent="-188578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dirty="0"/>
          </a:p>
          <a:p>
            <a:pPr marL="257153" indent="-188578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84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title"/>
          </p:nvPr>
        </p:nvSpPr>
        <p:spPr>
          <a:xfrm>
            <a:off x="2547442" y="1322196"/>
            <a:ext cx="7200630" cy="4861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6" tIns="34274" rIns="68566" bIns="34274" rtlCol="0" anchor="t" anchorCtr="0">
            <a:normAutofit fontScale="9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</a:pPr>
            <a:r>
              <a:rPr lang="en-US" sz="4050"/>
              <a:t>Selection &amp; feedback</a:t>
            </a:r>
            <a:br>
              <a:rPr lang="en-US" sz="4050"/>
            </a:br>
            <a:r>
              <a:rPr lang="en-US" sz="4050"/>
              <a:t/>
            </a:r>
            <a:br>
              <a:rPr lang="en-US" sz="4050"/>
            </a:br>
            <a:endParaRPr sz="405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1"/>
          </p:nvPr>
        </p:nvSpPr>
        <p:spPr>
          <a:xfrm>
            <a:off x="1656272" y="2475781"/>
            <a:ext cx="9169879" cy="3250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6" tIns="34274" rIns="68566" bIns="34274" rtlCol="0" anchor="t" anchorCtr="0">
            <a:normAutofit fontScale="77500" lnSpcReduction="20000"/>
          </a:bodyPr>
          <a:lstStyle/>
          <a:p>
            <a:pPr marL="257153" indent="-25715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999"/>
              <a:buChar char="►"/>
            </a:pPr>
            <a:r>
              <a:rPr lang="en-US" dirty="0"/>
              <a:t>Selection of candidates will be based on their </a:t>
            </a:r>
            <a:r>
              <a:rPr lang="en-US" b="1" dirty="0"/>
              <a:t>approach to </a:t>
            </a:r>
            <a:r>
              <a:rPr lang="en-US" b="1" dirty="0" smtClean="0"/>
              <a:t>project,</a:t>
            </a:r>
            <a:r>
              <a:rPr lang="en-US" b="1" dirty="0"/>
              <a:t>  presentation skills(Storytelling skills), and subject knowledge points(a mock round)(Questions related to </a:t>
            </a:r>
            <a:r>
              <a:rPr lang="en-US" b="1" dirty="0" smtClean="0"/>
              <a:t>SQL, </a:t>
            </a:r>
            <a:r>
              <a:rPr lang="en-US" b="1" dirty="0" err="1" smtClean="0"/>
              <a:t>PowerBI</a:t>
            </a:r>
            <a:r>
              <a:rPr lang="en-US" b="1" dirty="0" smtClean="0"/>
              <a:t> or Tableau </a:t>
            </a:r>
            <a:r>
              <a:rPr lang="en-US" b="1" dirty="0"/>
              <a:t>and </a:t>
            </a:r>
            <a:r>
              <a:rPr lang="en-US" b="1" dirty="0" smtClean="0"/>
              <a:t>Stats)</a:t>
            </a:r>
            <a:endParaRPr dirty="0"/>
          </a:p>
          <a:p>
            <a:pPr marL="257153" indent="-257153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Char char="►"/>
            </a:pPr>
            <a:r>
              <a:rPr lang="en-US" b="1" dirty="0"/>
              <a:t>Note: you need to score 80% to clear this round</a:t>
            </a:r>
            <a:endParaRPr dirty="0"/>
          </a:p>
          <a:p>
            <a:pPr marL="257153" indent="-257153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Char char="►"/>
            </a:pPr>
            <a:r>
              <a:rPr lang="en-US" dirty="0"/>
              <a:t>Once the presentation is done every candidate will get their feedback during the session and outcome and score via mail with the status of whether they are selected or not</a:t>
            </a:r>
            <a:r>
              <a:rPr lang="en-US" dirty="0" smtClean="0"/>
              <a:t>.</a:t>
            </a:r>
          </a:p>
          <a:p>
            <a:pPr marL="0" indent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None/>
            </a:pPr>
            <a:r>
              <a:rPr lang="en-US" b="1" dirty="0" smtClean="0"/>
              <a:t>Next Process:-</a:t>
            </a:r>
            <a:endParaRPr b="1" dirty="0"/>
          </a:p>
          <a:p>
            <a:pPr indent="-34287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Font typeface="Wingdings" panose="05000000000000000000" pitchFamily="2" charset="2"/>
              <a:buChar char="§"/>
            </a:pPr>
            <a:r>
              <a:rPr lang="en-US" dirty="0" smtClean="0"/>
              <a:t>Selected candidates’ data will be shared with the placement team for </a:t>
            </a:r>
            <a:r>
              <a:rPr lang="en-US" b="1" dirty="0" smtClean="0"/>
              <a:t>1 on 1 resume session.</a:t>
            </a:r>
            <a:endParaRPr b="1" dirty="0" smtClean="0"/>
          </a:p>
          <a:p>
            <a:pPr indent="-34287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Font typeface="Wingdings" panose="05000000000000000000" pitchFamily="2" charset="2"/>
              <a:buChar char="§"/>
            </a:pPr>
            <a:r>
              <a:rPr lang="en-US" dirty="0" smtClean="0"/>
              <a:t>Candidates </a:t>
            </a:r>
            <a:r>
              <a:rPr lang="en-US" dirty="0"/>
              <a:t>who are not selected in this process will be carried forward to the next project.</a:t>
            </a:r>
            <a:endParaRPr dirty="0"/>
          </a:p>
          <a:p>
            <a:pPr indent="-34287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9999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Kindly do not book multiple slots, if found it shall considered as cancelled. If any change in the slot date and time kindly inform or cancel the previous slot.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2302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196</TotalTime>
  <Words>249</Words>
  <Application>Microsoft Office PowerPoint</Application>
  <PresentationFormat>Widescreen</PresentationFormat>
  <Paragraphs>42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Black</vt:lpstr>
      <vt:lpstr>Calibri</vt:lpstr>
      <vt:lpstr>Century Gothic</vt:lpstr>
      <vt:lpstr>Garamond</vt:lpstr>
      <vt:lpstr>Wingdings</vt:lpstr>
      <vt:lpstr>Wingdings 3</vt:lpstr>
      <vt:lpstr>Wisp</vt:lpstr>
      <vt:lpstr>Organic</vt:lpstr>
      <vt:lpstr>ANALYTIC PROJECT Feb 2025 </vt:lpstr>
      <vt:lpstr>SQL QUERY ANALYSIS</vt:lpstr>
      <vt:lpstr>Visual Analysis  (PowerBI/Tableau)</vt:lpstr>
      <vt:lpstr>Conclusion on Visual analysis</vt:lpstr>
      <vt:lpstr>PowerPoint Presentation</vt:lpstr>
      <vt:lpstr>Guidelines</vt:lpstr>
      <vt:lpstr>Selection &amp; feedback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 PROJECT JULY 18TH 2024</dc:title>
  <dc:creator>Sagar Thapliyal</dc:creator>
  <cp:lastModifiedBy>admin</cp:lastModifiedBy>
  <cp:revision>10</cp:revision>
  <dcterms:created xsi:type="dcterms:W3CDTF">2024-07-18T10:45:51Z</dcterms:created>
  <dcterms:modified xsi:type="dcterms:W3CDTF">2025-02-24T15:54:22Z</dcterms:modified>
</cp:coreProperties>
</file>